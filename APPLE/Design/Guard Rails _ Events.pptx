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31" d="100"/>
          <a:sy n="131" d="100"/>
        </p:scale>
        <p:origin x="35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9B2FA-ADF9-48DF-A3A3-43A86E368650}" type="datetimeFigureOut">
              <a:rPr lang="en-US" smtClean="0"/>
              <a:t>5/22/20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1A15D-60B0-434D-859E-C8083702E1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7093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9B2FA-ADF9-48DF-A3A3-43A86E368650}" type="datetimeFigureOut">
              <a:rPr lang="en-US" smtClean="0"/>
              <a:t>5/22/20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1A15D-60B0-434D-859E-C8083702E1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6428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9B2FA-ADF9-48DF-A3A3-43A86E368650}" type="datetimeFigureOut">
              <a:rPr lang="en-US" smtClean="0"/>
              <a:t>5/22/20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1A15D-60B0-434D-859E-C8083702E1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7165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9B2FA-ADF9-48DF-A3A3-43A86E368650}" type="datetimeFigureOut">
              <a:rPr lang="en-US" smtClean="0"/>
              <a:t>5/22/20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1A15D-60B0-434D-859E-C8083702E1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4950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9B2FA-ADF9-48DF-A3A3-43A86E368650}" type="datetimeFigureOut">
              <a:rPr lang="en-US" smtClean="0"/>
              <a:t>5/22/20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1A15D-60B0-434D-859E-C8083702E1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4601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9B2FA-ADF9-48DF-A3A3-43A86E368650}" type="datetimeFigureOut">
              <a:rPr lang="en-US" smtClean="0"/>
              <a:t>5/22/20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1A15D-60B0-434D-859E-C8083702E1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245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9B2FA-ADF9-48DF-A3A3-43A86E368650}" type="datetimeFigureOut">
              <a:rPr lang="en-US" smtClean="0"/>
              <a:t>5/22/20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1A15D-60B0-434D-859E-C8083702E1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3983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9B2FA-ADF9-48DF-A3A3-43A86E368650}" type="datetimeFigureOut">
              <a:rPr lang="en-US" smtClean="0"/>
              <a:t>5/22/20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1A15D-60B0-434D-859E-C8083702E1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5022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9B2FA-ADF9-48DF-A3A3-43A86E368650}" type="datetimeFigureOut">
              <a:rPr lang="en-US" smtClean="0"/>
              <a:t>5/22/20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1A15D-60B0-434D-859E-C8083702E1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3481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9B2FA-ADF9-48DF-A3A3-43A86E368650}" type="datetimeFigureOut">
              <a:rPr lang="en-US" smtClean="0"/>
              <a:t>5/22/20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1A15D-60B0-434D-859E-C8083702E1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2587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9B2FA-ADF9-48DF-A3A3-43A86E368650}" type="datetimeFigureOut">
              <a:rPr lang="en-US" smtClean="0"/>
              <a:t>5/22/20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1A15D-60B0-434D-859E-C8083702E1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6205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39B2FA-ADF9-48DF-A3A3-43A86E368650}" type="datetimeFigureOut">
              <a:rPr lang="en-US" smtClean="0"/>
              <a:t>5/22/20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31A15D-60B0-434D-859E-C8083702E1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1764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hyperlink" Target="https://docs.aws.amazon.com/eventbridge/latest/userguide/event-types.html#ebs-event-types" TargetMode="External"/><Relationship Id="rId18" Type="http://schemas.openxmlformats.org/officeDocument/2006/relationships/hyperlink" Target="https://docs.aws.amazon.com/eventbridge/latest/userguide/event-types.html#ecs-event-types" TargetMode="External"/><Relationship Id="rId26" Type="http://schemas.openxmlformats.org/officeDocument/2006/relationships/hyperlink" Target="https://docs.aws.amazon.com/eventbridge/latest/userguide/event-types.html#guardduty-event-types" TargetMode="External"/><Relationship Id="rId39" Type="http://schemas.openxmlformats.org/officeDocument/2006/relationships/hyperlink" Target="https://docs.aws.amazon.com/eventbridge/latest/userguide/event-types.html#stepfunctions-event-type" TargetMode="External"/><Relationship Id="rId21" Type="http://schemas.openxmlformats.org/officeDocument/2006/relationships/hyperlink" Target="https://docs.aws.amazon.com/eventbridge/latest/userguide/event-types.html#ems-event-types" TargetMode="External"/><Relationship Id="rId34" Type="http://schemas.openxmlformats.org/officeDocument/2006/relationships/hyperlink" Target="https://docs.aws.amazon.com/eventbridge/latest/userguide/event-types.html#server-migration-service-event-types" TargetMode="External"/><Relationship Id="rId42" Type="http://schemas.openxmlformats.org/officeDocument/2006/relationships/hyperlink" Target="https://docs.aws.amazon.com/eventbridge/latest/userguide/event-types.html#workspaces-event-types" TargetMode="External"/><Relationship Id="rId7" Type="http://schemas.openxmlformats.org/officeDocument/2006/relationships/hyperlink" Target="https://docs.aws.amazon.com/eventbridge/latest/userguide/event-types.html#cloudwatch-event-type" TargetMode="External"/><Relationship Id="rId2" Type="http://schemas.openxmlformats.org/officeDocument/2006/relationships/hyperlink" Target="https://docs.aws.amazon.com/eventbridge/latest/userguide/event-types.html#a2i-event-type" TargetMode="External"/><Relationship Id="rId16" Type="http://schemas.openxmlformats.org/officeDocument/2006/relationships/hyperlink" Target="https://docs.aws.amazon.com/eventbridge/latest/userguide/event-types.html#ec2-event-type" TargetMode="External"/><Relationship Id="rId20" Type="http://schemas.openxmlformats.org/officeDocument/2006/relationships/hyperlink" Target="https://docs.aws.amazon.com/eventbridge/latest/userguide/event-types.html#emp-event-types" TargetMode="External"/><Relationship Id="rId29" Type="http://schemas.openxmlformats.org/officeDocument/2006/relationships/hyperlink" Target="https://docs.aws.amazon.com/eventbridge/latest/userguide/event-types.html#macie-event-types" TargetMode="External"/><Relationship Id="rId41" Type="http://schemas.openxmlformats.org/officeDocument/2006/relationships/hyperlink" Target="https://docs.aws.amazon.com/eventbridge/latest/userguide/event-types.html#trusted-advisor-event-types" TargetMode="Externa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docs.aws.amazon.com/eventbridge/latest/userguide/event-types.html#chime-event-type" TargetMode="External"/><Relationship Id="rId11" Type="http://schemas.openxmlformats.org/officeDocument/2006/relationships/hyperlink" Target="https://docs.aws.amazon.com/eventbridge/latest/userguide/event-types.html#codepipeline-event-type" TargetMode="External"/><Relationship Id="rId24" Type="http://schemas.openxmlformats.org/officeDocument/2006/relationships/hyperlink" Target="https://docs.aws.amazon.com/eventbridge/latest/userguide/event-types.html#glue-event-types" TargetMode="External"/><Relationship Id="rId32" Type="http://schemas.openxmlformats.org/officeDocument/2006/relationships/hyperlink" Target="https://docs.aws.amazon.com/eventbridge/latest/userguide/event-types.html#sagemaker-event-types" TargetMode="External"/><Relationship Id="rId37" Type="http://schemas.openxmlformats.org/officeDocument/2006/relationships/hyperlink" Target="https://docs.aws.amazon.com/eventbridge/latest/userguide/event-types.html#ec2-maintenance-windows-event-types" TargetMode="External"/><Relationship Id="rId40" Type="http://schemas.openxmlformats.org/officeDocument/2006/relationships/hyperlink" Target="https://docs.aws.amazon.com/eventbridge/latest/userguide/event-types.html#tag-event-types" TargetMode="External"/><Relationship Id="rId5" Type="http://schemas.openxmlformats.org/officeDocument/2006/relationships/hyperlink" Target="https://docs.aws.amazon.com/eventbridge/latest/userguide/event-types.html#schedule-event-type" TargetMode="External"/><Relationship Id="rId15" Type="http://schemas.openxmlformats.org/officeDocument/2006/relationships/hyperlink" Target="https://docs.aws.amazon.com/eventbridge/latest/userguide/event-types.html#spot-instance-event-types" TargetMode="External"/><Relationship Id="rId23" Type="http://schemas.openxmlformats.org/officeDocument/2006/relationships/hyperlink" Target="https://docs.aws.amazon.com/eventbridge/latest/userguide/event-types.html#gamelift-event-types" TargetMode="External"/><Relationship Id="rId28" Type="http://schemas.openxmlformats.org/officeDocument/2006/relationships/hyperlink" Target="https://docs.aws.amazon.com/eventbridge/latest/userguide/event-types.html#kms-event-types" TargetMode="External"/><Relationship Id="rId36" Type="http://schemas.openxmlformats.org/officeDocument/2006/relationships/hyperlink" Target="https://docs.aws.amazon.com/eventbridge/latest/userguide/event-types.html#ssm-configuration-compliance-event-types" TargetMode="External"/><Relationship Id="rId10" Type="http://schemas.openxmlformats.org/officeDocument/2006/relationships/hyperlink" Target="https://docs.aws.amazon.com/eventbridge/latest/userguide/event-types.html#acd-event-types" TargetMode="External"/><Relationship Id="rId19" Type="http://schemas.openxmlformats.org/officeDocument/2006/relationships/hyperlink" Target="https://docs.aws.amazon.com/eventbridge/latest/userguide/event-types.html#emc-event-types" TargetMode="External"/><Relationship Id="rId31" Type="http://schemas.openxmlformats.org/officeDocument/2006/relationships/hyperlink" Target="https://docs.aws.amazon.com/eventbridge/latest/userguide/event-types.html#opsworks-event-types" TargetMode="External"/><Relationship Id="rId4" Type="http://schemas.openxmlformats.org/officeDocument/2006/relationships/hyperlink" Target="https://docs.aws.amazon.com/eventbridge/latest/userguide/event-types.html#batch-event-type" TargetMode="External"/><Relationship Id="rId9" Type="http://schemas.openxmlformats.org/officeDocument/2006/relationships/hyperlink" Target="https://docs.aws.amazon.com/eventbridge/latest/userguide/event-types.html#codecommit-event-type" TargetMode="External"/><Relationship Id="rId14" Type="http://schemas.openxmlformats.org/officeDocument/2006/relationships/hyperlink" Target="https://docs.aws.amazon.com/eventbridge/latest/userguide/event-types.html#auto-scaling-event-types" TargetMode="External"/><Relationship Id="rId22" Type="http://schemas.openxmlformats.org/officeDocument/2006/relationships/hyperlink" Target="https://docs.aws.amazon.com/eventbridge/latest/userguide/event-types.html#emr-event-type" TargetMode="External"/><Relationship Id="rId27" Type="http://schemas.openxmlformats.org/officeDocument/2006/relationships/hyperlink" Target="https://docs.aws.amazon.com/eventbridge/latest/userguide/event-types.html#health-event-types" TargetMode="External"/><Relationship Id="rId30" Type="http://schemas.openxmlformats.org/officeDocument/2006/relationships/hyperlink" Target="https://docs.aws.amazon.com/eventbridge/latest/userguide/event-types.html#console-event-type" TargetMode="External"/><Relationship Id="rId35" Type="http://schemas.openxmlformats.org/officeDocument/2006/relationships/hyperlink" Target="https://docs.aws.amazon.com/eventbridge/latest/userguide/event-types.html#ssm-event-types" TargetMode="External"/><Relationship Id="rId43" Type="http://schemas.openxmlformats.org/officeDocument/2006/relationships/hyperlink" Target="https://docs.aws.amazon.com/eventbridge/latest/userguide/event-types.html#events-for-services-not-listed" TargetMode="External"/><Relationship Id="rId8" Type="http://schemas.openxmlformats.org/officeDocument/2006/relationships/hyperlink" Target="https://docs.aws.amazon.com/eventbridge/latest/userguide/event-types.html#codebuild-event-type" TargetMode="External"/><Relationship Id="rId3" Type="http://schemas.openxmlformats.org/officeDocument/2006/relationships/hyperlink" Target="https://docs.aws.amazon.com/eventbridge/latest/userguide/event-types.html#as-app-event-type" TargetMode="External"/><Relationship Id="rId12" Type="http://schemas.openxmlformats.org/officeDocument/2006/relationships/hyperlink" Target="https://docs.aws.amazon.com/eventbridge/latest/userguide/event-types.html#config-event-types" TargetMode="External"/><Relationship Id="rId17" Type="http://schemas.openxmlformats.org/officeDocument/2006/relationships/hyperlink" Target="https://docs.aws.amazon.com/eventbridge/latest/userguide/event-types.html#ecr-event-types" TargetMode="External"/><Relationship Id="rId25" Type="http://schemas.openxmlformats.org/officeDocument/2006/relationships/hyperlink" Target="https://docs.aws.amazon.com/eventbridge/latest/userguide/event-types.html#ground-station-event-types" TargetMode="External"/><Relationship Id="rId33" Type="http://schemas.openxmlformats.org/officeDocument/2006/relationships/hyperlink" Target="https://docs.aws.amazon.com/eventbridge/latest/userguide/event-types.html#securityhub-event-types" TargetMode="External"/><Relationship Id="rId38" Type="http://schemas.openxmlformats.org/officeDocument/2006/relationships/hyperlink" Target="https://docs.aws.amazon.com/eventbridge/latest/userguide/event-types.html#ssm-parameter-store-event-type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5B171-50E3-2D49-9067-C9D2D5BD95F7}" type="slidenum">
              <a:rPr lang="en-US" smtClean="0"/>
              <a:t>1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4533091" y="142672"/>
            <a:ext cx="29247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SCPs / Guardrails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7498" y="1076528"/>
            <a:ext cx="5389124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200" b="1" dirty="0">
                <a:solidFill>
                  <a:srgbClr val="31859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Elective/Best Practice Security Controls/Guardrails</a:t>
            </a:r>
            <a:endParaRPr lang="en-US" sz="5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200" i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Disallow Creation of Access Keys for the Root User</a:t>
            </a:r>
            <a:endParaRPr lang="en-US" sz="5400" dirty="0">
              <a:solidFill>
                <a:srgbClr val="0070C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20000"/>
              </a:lnSpc>
              <a:buFont typeface="+mj-lt"/>
              <a:buAutoNum type="arabicPeriod"/>
            </a:pPr>
            <a:r>
              <a:rPr lang="en-US" sz="1200" i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Disallow Actions as a Root User</a:t>
            </a:r>
          </a:p>
          <a:p>
            <a:pPr marL="342900" indent="-342900">
              <a:lnSpc>
                <a:spcPct val="120000"/>
              </a:lnSpc>
              <a:buFont typeface="+mj-lt"/>
              <a:buAutoNum type="arabicPeriod"/>
            </a:pPr>
            <a:r>
              <a:rPr lang="en-US" sz="1200" i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Enable Encryption for Amazon EBS Volumes Attached to Amazon EC2 Instances</a:t>
            </a:r>
          </a:p>
          <a:p>
            <a:pPr marL="342900" indent="-342900">
              <a:lnSpc>
                <a:spcPct val="120000"/>
              </a:lnSpc>
              <a:buFont typeface="+mj-lt"/>
              <a:buAutoNum type="arabicPeriod"/>
            </a:pPr>
            <a:r>
              <a:rPr lang="en-US" sz="1200" i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Disallow Internet Connection Through RDP</a:t>
            </a:r>
          </a:p>
          <a:p>
            <a:pPr marL="342900" indent="-342900">
              <a:lnSpc>
                <a:spcPct val="120000"/>
              </a:lnSpc>
              <a:buFont typeface="+mj-lt"/>
              <a:buAutoNum type="arabicPeriod"/>
            </a:pPr>
            <a:r>
              <a:rPr lang="en-US" sz="1200" i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Disallow Internet Connection Through SSH</a:t>
            </a:r>
          </a:p>
          <a:p>
            <a:pPr marL="342900" indent="-342900">
              <a:lnSpc>
                <a:spcPct val="120000"/>
              </a:lnSpc>
              <a:buFont typeface="+mj-lt"/>
              <a:buAutoNum type="arabicPeriod"/>
            </a:pPr>
            <a:r>
              <a:rPr lang="en-US" sz="1200" i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Enable MFA for the Root User</a:t>
            </a:r>
          </a:p>
          <a:p>
            <a:pPr marL="342900" indent="-342900">
              <a:lnSpc>
                <a:spcPct val="120000"/>
              </a:lnSpc>
              <a:buFont typeface="+mj-lt"/>
              <a:buAutoNum type="arabicPeriod"/>
            </a:pPr>
            <a:r>
              <a:rPr lang="en-US" sz="1200" i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Disallow Public Read Access to Amazon S3 Buckets</a:t>
            </a:r>
          </a:p>
          <a:p>
            <a:pPr marL="342900" indent="-342900">
              <a:lnSpc>
                <a:spcPct val="120000"/>
              </a:lnSpc>
              <a:buFont typeface="+mj-lt"/>
              <a:buAutoNum type="arabicPeriod"/>
            </a:pPr>
            <a:r>
              <a:rPr lang="en-US" sz="1200" i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Disallow Public Write Access to Amazon S3 Buckets</a:t>
            </a:r>
          </a:p>
          <a:p>
            <a:pPr marL="342900" indent="-342900">
              <a:lnSpc>
                <a:spcPct val="120000"/>
              </a:lnSpc>
              <a:buFont typeface="+mj-lt"/>
              <a:buAutoNum type="arabicPeriod"/>
            </a:pPr>
            <a:r>
              <a:rPr lang="en-US" sz="1200" i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Disallow Amazon EBS Volumes That Are Unattached to An Amazon EC2 Instance</a:t>
            </a:r>
          </a:p>
          <a:p>
            <a:pPr marL="342900" indent="-342900">
              <a:lnSpc>
                <a:spcPct val="120000"/>
              </a:lnSpc>
              <a:buFont typeface="+mj-lt"/>
              <a:buAutoNum type="arabicPeriod"/>
            </a:pPr>
            <a:r>
              <a:rPr lang="en-US" sz="1200" i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Disallow Amazon EC2Instance Types That Are Not Amazon EBS Optimized</a:t>
            </a:r>
          </a:p>
          <a:p>
            <a:pPr marL="342900" indent="-342900">
              <a:lnSpc>
                <a:spcPct val="120000"/>
              </a:lnSpc>
              <a:buFont typeface="+mj-lt"/>
              <a:buAutoNum type="arabicPeriod"/>
            </a:pPr>
            <a:r>
              <a:rPr lang="en-US" sz="1200" i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Disallow Public Access to Amazon RDS Database Instances</a:t>
            </a:r>
          </a:p>
          <a:p>
            <a:pPr marL="342900" indent="-342900">
              <a:lnSpc>
                <a:spcPct val="120000"/>
              </a:lnSpc>
              <a:buFont typeface="+mj-lt"/>
              <a:buAutoNum type="arabicPeriod"/>
            </a:pPr>
            <a:r>
              <a:rPr lang="en-US" sz="1200" i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Disallow Public Access to Amazon RDS Database Snapshots</a:t>
            </a:r>
          </a:p>
          <a:p>
            <a:pPr marL="342900" indent="-342900">
              <a:lnSpc>
                <a:spcPct val="120000"/>
              </a:lnSpc>
              <a:buFont typeface="+mj-lt"/>
              <a:buAutoNum type="arabicPeriod"/>
            </a:pPr>
            <a:r>
              <a:rPr lang="en-US" sz="1200" i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Disallow Amazon RDS Database Instances That Are Not Storage Encrypted</a:t>
            </a:r>
          </a:p>
          <a:p>
            <a:pPr marL="342900" indent="-342900">
              <a:lnSpc>
                <a:spcPct val="120000"/>
              </a:lnSpc>
              <a:buFont typeface="+mj-lt"/>
              <a:buAutoNum type="arabicPeriod"/>
            </a:pPr>
            <a:r>
              <a:rPr lang="en-US" sz="1200" i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Disallow Cross-Region Replication for Amazon S3 Buckets</a:t>
            </a:r>
          </a:p>
          <a:p>
            <a:pPr marL="342900" indent="-342900">
              <a:lnSpc>
                <a:spcPct val="120000"/>
              </a:lnSpc>
              <a:buFont typeface="+mj-lt"/>
              <a:buAutoNum type="arabicPeriod"/>
            </a:pPr>
            <a:r>
              <a:rPr lang="en-US" sz="1200" i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Disallow Delete Actions on Amazon S3 Buckets Without MFA</a:t>
            </a:r>
          </a:p>
          <a:p>
            <a:pPr marL="342900" indent="-342900">
              <a:lnSpc>
                <a:spcPct val="120000"/>
              </a:lnSpc>
              <a:buFont typeface="+mj-lt"/>
              <a:buAutoNum type="arabicPeriod"/>
            </a:pPr>
            <a:r>
              <a:rPr lang="en-US" sz="1200" i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Disallow Access to IAM Users Without MFA</a:t>
            </a:r>
          </a:p>
          <a:p>
            <a:pPr marL="342900" indent="-342900">
              <a:lnSpc>
                <a:spcPct val="120000"/>
              </a:lnSpc>
              <a:buFont typeface="+mj-lt"/>
              <a:buAutoNum type="arabicPeriod"/>
            </a:pPr>
            <a:r>
              <a:rPr lang="en-US" sz="1200" i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Disallow Console Access to IAM Users Without MFA</a:t>
            </a:r>
          </a:p>
          <a:p>
            <a:pPr marL="342900" indent="-342900">
              <a:lnSpc>
                <a:spcPct val="120000"/>
              </a:lnSpc>
              <a:buFont typeface="+mj-lt"/>
              <a:buAutoNum type="arabicPeriod"/>
            </a:pPr>
            <a:r>
              <a:rPr lang="en-US" sz="1200" i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Disallow Amazon S3 Buckets That Are Not Versioning Enabled</a:t>
            </a:r>
          </a:p>
        </p:txBody>
      </p:sp>
      <p:sp>
        <p:nvSpPr>
          <p:cNvPr id="8" name="Rectangle 7"/>
          <p:cNvSpPr/>
          <p:nvPr/>
        </p:nvSpPr>
        <p:spPr>
          <a:xfrm>
            <a:off x="6316494" y="810639"/>
            <a:ext cx="5700408" cy="54107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200" i="1" dirty="0">
                <a:solidFill>
                  <a:srgbClr val="C0504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  <a:endParaRPr lang="en-US" sz="5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sz="1200" b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Mandatory Default Security Controls/Guardrails</a:t>
            </a:r>
            <a:endParaRPr lang="en-US" sz="5400" dirty="0">
              <a:solidFill>
                <a:srgbClr val="C0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200" i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Enable Encryption at Rest for Log Archive</a:t>
            </a:r>
            <a:endParaRPr lang="en-US" sz="5400" dirty="0">
              <a:solidFill>
                <a:srgbClr val="C0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200" i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Enable Access Logging for Log Archive</a:t>
            </a:r>
            <a:endParaRPr lang="en-US" sz="5400" dirty="0">
              <a:solidFill>
                <a:srgbClr val="C0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200" i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Disallow Changes to CloudWatch Logs Log Groups</a:t>
            </a:r>
            <a:endParaRPr lang="en-US" sz="5400" dirty="0">
              <a:solidFill>
                <a:srgbClr val="C0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200" i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Disallow Deletion of AWS Config Aggregation Authorization</a:t>
            </a:r>
          </a:p>
          <a:p>
            <a:pPr marL="342900" marR="0" lvl="0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200" i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Disallow Deletion of Log Archive</a:t>
            </a:r>
          </a:p>
          <a:p>
            <a:pPr marL="342900" marR="0" lvl="0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200" i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Disallow Policy Changes to Log Archive</a:t>
            </a:r>
          </a:p>
          <a:p>
            <a:pPr marL="342900" marR="0" lvl="0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200" i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Disallow Public Read Access to Log Archive</a:t>
            </a:r>
          </a:p>
          <a:p>
            <a:pPr marL="342900" marR="0" lvl="0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200" i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Disallow Public Write Access to Log Archive</a:t>
            </a:r>
          </a:p>
          <a:p>
            <a:pPr marL="342900" marR="0" lvl="0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200" i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Set a Retention Policy for Log Archive</a:t>
            </a:r>
          </a:p>
          <a:p>
            <a:pPr marL="342900" marR="0" lvl="0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200" i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Disallow Configuration Changes to CloudTrail</a:t>
            </a:r>
          </a:p>
          <a:p>
            <a:pPr marL="342900" marR="0" lvl="0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200" i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Integrate CloudTrail Events with CloudWatch Logs</a:t>
            </a:r>
          </a:p>
          <a:p>
            <a:pPr marL="342900" marR="0" lvl="0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200" i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Enable CloudTrail in All Available Regions</a:t>
            </a:r>
          </a:p>
          <a:p>
            <a:pPr marL="342900" marR="0" lvl="0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200" i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Enable Integrity Validation for CloudTrail Log File</a:t>
            </a:r>
          </a:p>
          <a:p>
            <a:pPr marL="342900" marR="0" lvl="0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200" i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Disallow Changes to CloudWatch Set Up by AWS Control Tower</a:t>
            </a:r>
          </a:p>
          <a:p>
            <a:pPr marL="342900" marR="0" lvl="0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200" i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Disallow Changes to AWS Config Aggregation Set Up by AWS Control Tower</a:t>
            </a:r>
          </a:p>
          <a:p>
            <a:pPr marL="342900" marR="0" lvl="0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200" i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Disallow Configuration Changes to AWS Config</a:t>
            </a:r>
          </a:p>
          <a:p>
            <a:pPr marL="342900" marR="0" lvl="0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200" i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Enable AWS Config in All Available Regions</a:t>
            </a:r>
          </a:p>
          <a:p>
            <a:pPr marL="342900" marR="0" lvl="0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200" i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Disallow Changes to AWS Config Rules Set Up by AWS Control Tower</a:t>
            </a:r>
          </a:p>
          <a:p>
            <a:pPr marL="342900" marR="0" lvl="0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200" i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Disallow Changes to IAM Roles Set Up by AWS Control Tower</a:t>
            </a:r>
            <a:endParaRPr lang="en-US" sz="5400" dirty="0">
              <a:solidFill>
                <a:srgbClr val="C0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200" i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Disallow Changes to Lambda Functions Set Up by AWS Control Tower</a:t>
            </a:r>
            <a:endParaRPr lang="en-US" sz="5400" dirty="0">
              <a:solidFill>
                <a:srgbClr val="C0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200" i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Disallow Changes to Amazon SNS Set Up by AWS Control Tower</a:t>
            </a:r>
            <a:endParaRPr lang="en-US" sz="5400" dirty="0">
              <a:solidFill>
                <a:srgbClr val="C0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200" i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Disallow Changes to Amazon SNS Subscriptions Set Up by AWS Control Tower</a:t>
            </a:r>
            <a:endParaRPr lang="en-US" sz="5400" dirty="0">
              <a:solidFill>
                <a:srgbClr val="C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6136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BAFBA-5DAE-7048-86AF-ECEB359B0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51998"/>
          </a:xfrm>
        </p:spPr>
        <p:txBody>
          <a:bodyPr>
            <a:noAutofit/>
          </a:bodyPr>
          <a:lstStyle/>
          <a:p>
            <a:r>
              <a:rPr lang="en-US" sz="3200" dirty="0"/>
              <a:t>Event Bridge / </a:t>
            </a:r>
            <a:r>
              <a:rPr lang="en-US" sz="3200" dirty="0" err="1"/>
              <a:t>Cloudwatch</a:t>
            </a:r>
            <a:r>
              <a:rPr lang="en-US" sz="3200" dirty="0"/>
              <a:t> Supported Aws Services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E35CCD-0364-CE43-99BA-7002139FD3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943583"/>
            <a:ext cx="5181600" cy="5233380"/>
          </a:xfrm>
        </p:spPr>
        <p:txBody>
          <a:bodyPr>
            <a:normAutofit fontScale="32500" lnSpcReduction="20000"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Amazon Augmented AI Events</a:t>
            </a:r>
            <a:endParaRPr lang="en-US" dirty="0"/>
          </a:p>
          <a:p>
            <a:r>
              <a:rPr lang="en-US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Application Auto Scaling Events</a:t>
            </a:r>
            <a:endParaRPr lang="en-US" dirty="0"/>
          </a:p>
          <a:p>
            <a:r>
              <a:rPr lang="en-US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AWS Batch Events</a:t>
            </a:r>
            <a:endParaRPr lang="en-US" dirty="0"/>
          </a:p>
          <a:p>
            <a:r>
              <a:rPr lang="en-US" dirty="0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Amazon EventBridge Scheduled Events</a:t>
            </a:r>
            <a:endParaRPr lang="en-US" dirty="0"/>
          </a:p>
          <a:p>
            <a:r>
              <a:rPr lang="en-US" dirty="0"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Amazon Chime Events</a:t>
            </a:r>
            <a:endParaRPr lang="en-US" dirty="0"/>
          </a:p>
          <a:p>
            <a:r>
              <a:rPr lang="en-US" dirty="0"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Events from CloudWatch</a:t>
            </a:r>
            <a:endParaRPr lang="en-US" dirty="0"/>
          </a:p>
          <a:p>
            <a:r>
              <a:rPr lang="en-US" dirty="0"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CodeBuild Events</a:t>
            </a:r>
            <a:endParaRPr lang="en-US" dirty="0"/>
          </a:p>
          <a:p>
            <a:r>
              <a:rPr lang="en-US" dirty="0"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CodeCommit Events</a:t>
            </a:r>
            <a:endParaRPr lang="en-US" dirty="0"/>
          </a:p>
          <a:p>
            <a:r>
              <a:rPr lang="en-US" dirty="0"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AWS CodeDeploy Events</a:t>
            </a:r>
            <a:endParaRPr lang="en-US" dirty="0"/>
          </a:p>
          <a:p>
            <a:r>
              <a:rPr lang="en-US" dirty="0"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CodePipeline Events</a:t>
            </a:r>
            <a:endParaRPr lang="en-US" dirty="0"/>
          </a:p>
          <a:p>
            <a:r>
              <a:rPr lang="en-US" dirty="0"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AWS Config Events</a:t>
            </a:r>
            <a:endParaRPr lang="en-US" dirty="0"/>
          </a:p>
          <a:p>
            <a:r>
              <a:rPr lang="en-US" dirty="0">
                <a:hlinkClick r:id="rId1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Amazon EBS Events</a:t>
            </a:r>
            <a:endParaRPr lang="en-US" dirty="0"/>
          </a:p>
          <a:p>
            <a:r>
              <a:rPr lang="en-US" dirty="0">
                <a:hlinkClick r:id="rId1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Amazon EC2 Auto Scaling Events</a:t>
            </a:r>
            <a:endParaRPr lang="en-US" dirty="0"/>
          </a:p>
          <a:p>
            <a:r>
              <a:rPr lang="en-US" dirty="0">
                <a:hlinkClick r:id="rId1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Amazon EC2 Spot Instance Interruption Events</a:t>
            </a:r>
            <a:endParaRPr lang="en-US" dirty="0"/>
          </a:p>
          <a:p>
            <a:r>
              <a:rPr lang="en-US" dirty="0">
                <a:hlinkClick r:id="rId1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Amazon EC2 State Change Events</a:t>
            </a:r>
            <a:endParaRPr lang="en-US" dirty="0"/>
          </a:p>
          <a:p>
            <a:r>
              <a:rPr lang="en-US" dirty="0">
                <a:hlinkClick r:id="rId1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Amazon Elastic Container Registry (Amazon ECR) Events</a:t>
            </a:r>
            <a:endParaRPr lang="en-US" dirty="0"/>
          </a:p>
          <a:p>
            <a:r>
              <a:rPr lang="en-US" dirty="0">
                <a:hlinkClick r:id="rId1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Amazon Elastic Container Service (Amazon ECS) Events</a:t>
            </a:r>
            <a:endParaRPr lang="en-US" dirty="0"/>
          </a:p>
          <a:p>
            <a:r>
              <a:rPr lang="en-US" dirty="0">
                <a:hlinkClick r:id="rId1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AWS Elemental MediaConvert Events</a:t>
            </a:r>
            <a:endParaRPr lang="en-US" dirty="0"/>
          </a:p>
          <a:p>
            <a:r>
              <a:rPr lang="en-US" dirty="0">
                <a:hlinkClick r:id="rId2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AWS Elemental MediaPackage Events</a:t>
            </a:r>
            <a:endParaRPr lang="en-US" dirty="0"/>
          </a:p>
          <a:p>
            <a:r>
              <a:rPr lang="en-US" dirty="0">
                <a:hlinkClick r:id="rId2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AWS Elemental MediaStore Events</a:t>
            </a:r>
            <a:endParaRPr lang="en-US" dirty="0"/>
          </a:p>
          <a:p>
            <a:r>
              <a:rPr lang="en-US" dirty="0">
                <a:hlinkClick r:id="rId2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Amazon EMR Events</a:t>
            </a:r>
            <a:endParaRPr lang="en-US" dirty="0"/>
          </a:p>
          <a:p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786E749-295F-6E44-BA23-AEE5A68F31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943583"/>
            <a:ext cx="5181600" cy="5233380"/>
          </a:xfrm>
        </p:spPr>
        <p:txBody>
          <a:bodyPr>
            <a:normAutofit fontScale="32500" lnSpcReduction="20000"/>
          </a:bodyPr>
          <a:lstStyle/>
          <a:p>
            <a:r>
              <a:rPr lang="en-US" dirty="0">
                <a:hlinkClick r:id="rId2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Amazon GameLift Event</a:t>
            </a:r>
            <a:endParaRPr lang="en-US" dirty="0"/>
          </a:p>
          <a:p>
            <a:r>
              <a:rPr lang="en-US" dirty="0">
                <a:hlinkClick r:id="rId2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AWS Glue Events</a:t>
            </a:r>
            <a:endParaRPr lang="en-US" dirty="0"/>
          </a:p>
          <a:p>
            <a:r>
              <a:rPr lang="en-US" dirty="0">
                <a:hlinkClick r:id="rId2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AWS IoT Greengrass Events</a:t>
            </a:r>
            <a:endParaRPr lang="en-US" dirty="0"/>
          </a:p>
          <a:p>
            <a:r>
              <a:rPr lang="en-US" dirty="0">
                <a:hlinkClick r:id="rId2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AWS Ground Station Events</a:t>
            </a:r>
            <a:endParaRPr lang="en-US" dirty="0"/>
          </a:p>
          <a:p>
            <a:r>
              <a:rPr lang="en-US" dirty="0">
                <a:hlinkClick r:id="rId2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Amazon GuardDuty Events</a:t>
            </a:r>
            <a:endParaRPr lang="en-US" dirty="0"/>
          </a:p>
          <a:p>
            <a:r>
              <a:rPr lang="en-US" dirty="0">
                <a:hlinkClick r:id="rId2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AWS Health Events</a:t>
            </a:r>
            <a:endParaRPr lang="en-US" dirty="0"/>
          </a:p>
          <a:p>
            <a:r>
              <a:rPr lang="en-US" dirty="0">
                <a:hlinkClick r:id="rId2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AWS KMS Events</a:t>
            </a:r>
            <a:endParaRPr lang="en-US" dirty="0"/>
          </a:p>
          <a:p>
            <a:r>
              <a:rPr lang="en-US" dirty="0">
                <a:hlinkClick r:id="rId2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Amazon Macie Events</a:t>
            </a:r>
            <a:endParaRPr lang="en-US" dirty="0"/>
          </a:p>
          <a:p>
            <a:r>
              <a:rPr lang="en-US" dirty="0">
                <a:hlinkClick r:id="rId3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AWS Management Console Sign-in Events</a:t>
            </a:r>
            <a:endParaRPr lang="en-US" dirty="0"/>
          </a:p>
          <a:p>
            <a:r>
              <a:rPr lang="en-US" dirty="0">
                <a:hlinkClick r:id="rId3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AWS OpsWorks Stacks Events</a:t>
            </a:r>
            <a:endParaRPr lang="en-US" dirty="0"/>
          </a:p>
          <a:p>
            <a:r>
              <a:rPr lang="en-US" dirty="0">
                <a:hlinkClick r:id="rId3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Amazon SageMaker Events</a:t>
            </a:r>
            <a:endParaRPr lang="en-US" dirty="0"/>
          </a:p>
          <a:p>
            <a:r>
              <a:rPr lang="en-US" dirty="0">
                <a:hlinkClick r:id="rId3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AWS Security Hub Events</a:t>
            </a:r>
            <a:endParaRPr lang="en-US" dirty="0"/>
          </a:p>
          <a:p>
            <a:r>
              <a:rPr lang="en-US" dirty="0">
                <a:hlinkClick r:id="rId3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AWS Server Migration Service Events</a:t>
            </a:r>
            <a:endParaRPr lang="en-US" dirty="0"/>
          </a:p>
          <a:p>
            <a:r>
              <a:rPr lang="en-US" dirty="0">
                <a:hlinkClick r:id="rId3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AWS Systems Manager Events</a:t>
            </a:r>
            <a:endParaRPr lang="en-US" dirty="0"/>
          </a:p>
          <a:p>
            <a:r>
              <a:rPr lang="en-US" dirty="0">
                <a:hlinkClick r:id="rId3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AWS Systems Manager Configuration Compliance Events</a:t>
            </a:r>
            <a:endParaRPr lang="en-US" dirty="0"/>
          </a:p>
          <a:p>
            <a:r>
              <a:rPr lang="en-US" dirty="0">
                <a:hlinkClick r:id="rId3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AWS Systems Manager Maintenance Windows Events</a:t>
            </a:r>
            <a:endParaRPr lang="en-US" dirty="0"/>
          </a:p>
          <a:p>
            <a:r>
              <a:rPr lang="en-US" dirty="0">
                <a:hlinkClick r:id="rId3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AWS Systems Manager Parameter Store Events</a:t>
            </a:r>
            <a:endParaRPr lang="en-US" dirty="0"/>
          </a:p>
          <a:p>
            <a:r>
              <a:rPr lang="en-US" dirty="0">
                <a:hlinkClick r:id="rId3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AWS Step Functions Events</a:t>
            </a:r>
            <a:endParaRPr lang="en-US" dirty="0"/>
          </a:p>
          <a:p>
            <a:r>
              <a:rPr lang="en-US" dirty="0">
                <a:hlinkClick r:id="rId4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Tag Change Events on AWS Resources</a:t>
            </a:r>
            <a:endParaRPr lang="en-US" dirty="0"/>
          </a:p>
          <a:p>
            <a:r>
              <a:rPr lang="en-US" dirty="0">
                <a:hlinkClick r:id="rId4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AWS Trusted Advisor Events</a:t>
            </a:r>
            <a:endParaRPr lang="en-US" dirty="0"/>
          </a:p>
          <a:p>
            <a:r>
              <a:rPr lang="en-US" dirty="0">
                <a:hlinkClick r:id="rId4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Amazon WorkSpaces Events</a:t>
            </a:r>
            <a:endParaRPr lang="en-US" dirty="0"/>
          </a:p>
          <a:p>
            <a:r>
              <a:rPr lang="en-US" dirty="0">
                <a:hlinkClick r:id="rId4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Events Delivered Via CloudTrail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68658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2870</TotalTime>
  <Words>522</Words>
  <Application>Microsoft Macintosh PowerPoint</Application>
  <PresentationFormat>Widescreen</PresentationFormat>
  <Paragraphs>90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Event Bridge / Cloudwatch Supported Aws Services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Chiragh Q</dc:creator>
  <cp:lastModifiedBy>Microsoft Office User</cp:lastModifiedBy>
  <cp:revision>3</cp:revision>
  <dcterms:created xsi:type="dcterms:W3CDTF">2020-05-22T20:27:13Z</dcterms:created>
  <dcterms:modified xsi:type="dcterms:W3CDTF">2020-05-24T20:27:38Z</dcterms:modified>
</cp:coreProperties>
</file>