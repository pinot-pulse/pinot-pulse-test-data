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 snapToObjects="1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23FF1-7828-5549-9471-9B6F2487C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3289E3-1555-6B4F-AC44-F4E94D01A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E2C04-8B00-4740-98BC-DEE90CA51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5B50D-EA53-A849-9CFE-1495A5E6B9ED}" type="datetimeFigureOut">
              <a:rPr lang="en-US" smtClean="0"/>
              <a:t>9/29/20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673D7-0836-FA49-8810-C242FAEB0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B2074-E8EB-5D4F-9392-1D12F923D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6017-0A88-9A4F-A1AC-2B81974A1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488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92EC0-8C5E-FB4E-97EE-A92F45E0F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2FB6D-D1C7-E345-B221-C7F536AF9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F3426-4C35-A44D-8DF2-A48F8CCF0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5B50D-EA53-A849-9CFE-1495A5E6B9ED}" type="datetimeFigureOut">
              <a:rPr lang="en-US" smtClean="0"/>
              <a:t>9/29/20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E00F2-8454-8B4F-B4A9-DC8B189B1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AB029-A614-814D-B899-B9E8CB797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6017-0A88-9A4F-A1AC-2B81974A1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40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5A4E2-5117-1441-9C8C-7DDAD0D25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FC430-CF2A-2B47-937A-2A2338E12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DB1B6-FCD4-1D42-9590-D2B3F9AAA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5B50D-EA53-A849-9CFE-1495A5E6B9ED}" type="datetimeFigureOut">
              <a:rPr lang="en-US" smtClean="0"/>
              <a:t>9/29/20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0A8DF-D37A-6A48-BE59-3F732D1B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DF7E4-EE3A-CD48-B0C8-1E365E2FB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6017-0A88-9A4F-A1AC-2B81974A1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42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2F5E-BB6A-9044-838A-46227088C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2F300-0C5E-1D42-9A5C-3D70B0C3A7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E0FDB-F9EC-EA44-B5F5-C7626FB3E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D1C35-FDDC-4D49-BA59-6534858F8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5B50D-EA53-A849-9CFE-1495A5E6B9ED}" type="datetimeFigureOut">
              <a:rPr lang="en-US" smtClean="0"/>
              <a:t>9/29/20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A0CBD6-5A84-4440-AC31-9222C2214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9F2E8-264E-4843-AB13-FA6044C68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6017-0A88-9A4F-A1AC-2B81974A1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601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E6DD9-AA81-6B43-9EEE-CBEC60AA6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34322-F5D7-5C4B-B905-A93914945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B1567-73C1-B444-BDBF-77B73CA21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9FA7E0-5007-F746-8789-038A617C4B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B58DDE-3C54-7449-B712-347E468B3E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830548-3EB7-954C-9A06-1E42CBAF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5B50D-EA53-A849-9CFE-1495A5E6B9ED}" type="datetimeFigureOut">
              <a:rPr lang="en-US" smtClean="0"/>
              <a:t>9/29/20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ADFFAE-5162-1F4A-8DDB-680163B84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DE194A-217C-914C-ACAD-D660B6C4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6017-0A88-9A4F-A1AC-2B81974A1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523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D317B-59DA-E448-A699-D3B659FE5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C5DD02-2D00-BA4C-886D-7FD5F2B3A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5B50D-EA53-A849-9CFE-1495A5E6B9ED}" type="datetimeFigureOut">
              <a:rPr lang="en-US" smtClean="0"/>
              <a:t>9/29/20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14090D-D7C5-A849-B944-960712C0E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C286F0-C88E-B547-AAFC-A09BE6805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6017-0A88-9A4F-A1AC-2B81974A1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572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99423B-8E4D-4541-A51E-BD5F2FEBD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5B50D-EA53-A849-9CFE-1495A5E6B9ED}" type="datetimeFigureOut">
              <a:rPr lang="en-US" smtClean="0"/>
              <a:t>9/29/20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BA78E6-262C-0D43-AB1B-529BE48E7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87EFE-1235-9443-B0AD-BAB44B787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6017-0A88-9A4F-A1AC-2B81974A1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16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BF607-7FF8-2549-87EF-2450E3BA1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E22BA-DC1A-D049-9DEF-B35077E9C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9C3EE2-8C36-5E4D-AEF6-DC7B82224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4660CB-2A0D-A944-ACB9-6754CB129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5B50D-EA53-A849-9CFE-1495A5E6B9ED}" type="datetimeFigureOut">
              <a:rPr lang="en-US" smtClean="0"/>
              <a:t>9/29/20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B73542-0C26-BF4D-A2B5-AF665BE32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F63EA-7B1E-9345-8E6C-9E7B2491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6017-0A88-9A4F-A1AC-2B81974A1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718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DFC54-25CE-E74B-8CA4-7C8D47795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6A2160-75F0-2046-BEDC-DFE186B6EC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12E9C9-E3B9-5441-89C8-7DA1BC770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621A3-37D4-8D4B-8F4B-87817E440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5B50D-EA53-A849-9CFE-1495A5E6B9ED}" type="datetimeFigureOut">
              <a:rPr lang="en-US" smtClean="0"/>
              <a:t>9/29/20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930E84-5B28-5A4E-BD4A-46173B2DC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72A4B-BDA1-EE49-93CF-F3CE3E21F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6017-0A88-9A4F-A1AC-2B81974A1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409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ECC07-4CC1-B44D-BAE5-E980B85F9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1298AF-2320-D348-83E2-17B0BB274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08B84-A3F5-9447-B43D-13CB5087D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5B50D-EA53-A849-9CFE-1495A5E6B9ED}" type="datetimeFigureOut">
              <a:rPr lang="en-US" smtClean="0"/>
              <a:t>9/29/20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242B1-E718-A34B-938E-782E03231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D8AF3-EA0B-AE49-9312-0F78047AE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6017-0A88-9A4F-A1AC-2B81974A1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307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1CB7BA-E1C1-5142-82B0-25B09ABDAF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2DB3A6-418A-5244-816F-2C5B939C8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1EE59-140C-C944-94C0-AC6B04A93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5B50D-EA53-A849-9CFE-1495A5E6B9ED}" type="datetimeFigureOut">
              <a:rPr lang="en-US" smtClean="0"/>
              <a:t>9/29/20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74E19-06D0-3146-A207-687F80CC6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4B9C0-177A-4944-8C7E-704DEBA13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6017-0A88-9A4F-A1AC-2B81974A1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080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71940C-C4C2-F445-B495-AF016C90D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AE196-617F-0A4D-AC31-810391350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2DB8D-7737-6F49-9088-877D5E9551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5B50D-EA53-A849-9CFE-1495A5E6B9ED}" type="datetimeFigureOut">
              <a:rPr lang="en-US" smtClean="0"/>
              <a:t>9/29/20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0911D-95E0-8D41-B719-AB8CD464CE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635C0-0BF5-0744-9491-96B922B37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06017-0A88-9A4F-A1AC-2B81974A1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8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F25E53C-D6F4-5845-9C70-4A5D80E0D771}"/>
              </a:ext>
            </a:extLst>
          </p:cNvPr>
          <p:cNvSpPr/>
          <p:nvPr/>
        </p:nvSpPr>
        <p:spPr>
          <a:xfrm>
            <a:off x="1391055" y="1859340"/>
            <a:ext cx="775294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86333" indent="-400050">
              <a:buFont typeface="Wingdings" pitchFamily="2" charset="2"/>
              <a:buChar char="v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% of deployment failures over all deployments in a month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cs typeface="Arial"/>
            </a:endParaRPr>
          </a:p>
          <a:p>
            <a:pPr marL="886333" indent="-400050">
              <a:buFont typeface="Wingdings" pitchFamily="2" charset="2"/>
              <a:buChar char="v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Number of Smoke test failure over all smoke tests done in a month by repository. </a:t>
            </a:r>
          </a:p>
          <a:p>
            <a:pPr marL="886333" indent="-400050">
              <a:buFont typeface="Wingdings" pitchFamily="2" charset="2"/>
              <a:buChar char="v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Number of Faulty release instructions over all deployments in a month. </a:t>
            </a:r>
          </a:p>
          <a:p>
            <a:pPr marL="886333" indent="-400050">
              <a:buFont typeface="Wingdings" pitchFamily="2" charset="2"/>
              <a:buChar char="v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Number  of Regression test failures over all smoke tests done in a month by repository.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886333" indent="-400050">
              <a:buFont typeface="Wingdings" pitchFamily="2" charset="2"/>
              <a:buChar char="v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Number of deployment per month to Production </a:t>
            </a:r>
          </a:p>
          <a:p>
            <a:pPr marL="886333" indent="-400050">
              <a:buFont typeface="Wingdings" pitchFamily="2" charset="2"/>
              <a:buChar char="v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Number  of rollbacks over total deployment to Production in a month 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20781D-A320-5549-AC99-F98754733075}"/>
              </a:ext>
            </a:extLst>
          </p:cNvPr>
          <p:cNvSpPr/>
          <p:nvPr/>
        </p:nvSpPr>
        <p:spPr>
          <a:xfrm>
            <a:off x="2674118" y="462223"/>
            <a:ext cx="28359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cs typeface="Arial"/>
              </a:rPr>
              <a:t>KPIs for Continuous Delivery</a:t>
            </a:r>
          </a:p>
        </p:txBody>
      </p:sp>
    </p:spTree>
    <p:extLst>
      <p:ext uri="{BB962C8B-B14F-4D97-AF65-F5344CB8AC3E}">
        <p14:creationId xmlns:p14="http://schemas.microsoft.com/office/powerpoint/2010/main" val="3933736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585D9-78BE-F84D-AD03-E35724044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KPIs for Process Improvements</a:t>
            </a:r>
            <a:br>
              <a:rPr lang="en-US" dirty="0">
                <a:cs typeface="Arial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2A683-3AD7-BF45-8F17-BA22BC175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fontAlgn="t"/>
            <a:r>
              <a:rPr lang="en-US" dirty="0"/>
              <a:t>% of manual deployment over all deployment in a month (CD maturity measurement)</a:t>
            </a:r>
          </a:p>
          <a:p>
            <a:pPr fontAlgn="t"/>
            <a:r>
              <a:rPr lang="en-US" dirty="0"/>
              <a:t>% of manual deployment over all deployment in a month (CD maturity measurement)</a:t>
            </a:r>
          </a:p>
          <a:p>
            <a:pPr fontAlgn="t"/>
            <a:r>
              <a:rPr lang="en-US" dirty="0"/>
              <a:t># of available automated environmental setup scripts over total # of environmental components (CD maturity measurement)</a:t>
            </a:r>
          </a:p>
          <a:p>
            <a:pPr fontAlgn="t"/>
            <a:r>
              <a:rPr lang="en-US" dirty="0"/>
              <a:t># of available automated environmental setup scripts over total # of environmental components (CD maturity measurement)</a:t>
            </a:r>
          </a:p>
          <a:p>
            <a:pPr fontAlgn="t"/>
            <a:r>
              <a:rPr lang="en-US" dirty="0"/>
              <a:t># of long living branches per repository (CI)</a:t>
            </a:r>
          </a:p>
          <a:p>
            <a:pPr fontAlgn="t"/>
            <a:r>
              <a:rPr lang="en-US" dirty="0"/>
              <a:t># of branches short living longer than 3 months (one PI) per repository (CI)</a:t>
            </a:r>
          </a:p>
          <a:p>
            <a:pPr fontAlgn="t"/>
            <a:r>
              <a:rPr lang="en-US" dirty="0"/>
              <a:t># of deployment of short living branch in QA or UAT or PROD environment in a month (CI)</a:t>
            </a:r>
          </a:p>
          <a:p>
            <a:pPr fontAlgn="t"/>
            <a:r>
              <a:rPr lang="en-US" dirty="0"/>
              <a:t># of Hot Fix deployment in a month (DevOps Level 3 maturity measurement)</a:t>
            </a:r>
          </a:p>
          <a:p>
            <a:pPr fontAlgn="t"/>
            <a:r>
              <a:rPr lang="en-US" dirty="0"/>
              <a:t>Average days between Hot Fix branch deployment date and down merge date to long live branches by each long living branch per repository (CI maturity measurement)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680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A01B7-E2DC-D44D-9C30-AA6F7571F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Quality KPIs </a:t>
            </a:r>
            <a:br>
              <a:rPr lang="en-US" dirty="0">
                <a:cs typeface="Arial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86CC5-B64D-E640-9965-0FFDCECA5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BFR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(Build Failure Rate) - % of failed builds</a:t>
            </a:r>
            <a:b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DFR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(Deployment Failure Rate) - % of failed deployments</a:t>
            </a:r>
            <a:b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IRFR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(Infrastructure-Related Failure Rate) - % of build/deployment failures related to infrastructure issues</a:t>
            </a:r>
            <a:b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RWR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(Rework Rate) - % of tickets being reopened</a:t>
            </a:r>
            <a:b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ADR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(Automated Detection Rate) - % of defects being detected by automated testing cycles</a:t>
            </a:r>
            <a:b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UWR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(Unplanned Work Rate) - % of unplanned issues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043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C2DA6-9167-DF45-A0CE-3F1991DF4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Test Automation KPIs </a:t>
            </a:r>
            <a:br>
              <a:rPr lang="en-US" dirty="0">
                <a:cs typeface="Arial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72759-1B2A-CB4E-A398-AD309442D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285750" indent="-285750" fontAlgn="t">
              <a:buFont typeface="Wingdings" pitchFamily="2" charset="2"/>
              <a:buChar char="v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Cycle time in QA - Weekly Average time between a feature deployed to QA and QA Complete is flagged or reverted back to Old Code (Exit Criteria) </a:t>
            </a:r>
          </a:p>
          <a:p>
            <a:pPr marL="285750" indent="-285750" fontAlgn="t">
              <a:buFont typeface="Wingdings" pitchFamily="2" charset="2"/>
              <a:buChar char="v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Cycle time in UAT - Weekly Average time between a feature (first-time entry to UAT environment) been deployed and UAT Complete is flagged or reverted back to Old Code (Exit Criteria) </a:t>
            </a:r>
          </a:p>
          <a:p>
            <a:pPr marL="285750" indent="-285750" fontAlgn="t">
              <a:buFont typeface="Wingdings" pitchFamily="2" charset="2"/>
              <a:buChar char="v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Cycle time in STG - Weekly Average time between a feature (first-time entry to QA environment) been deployed and Performance Test Complete is flagged or reverted back to Old Code (Exit Criteria)</a:t>
            </a:r>
          </a:p>
          <a:p>
            <a:pPr marL="285750" indent="-285750" fontAlgn="t">
              <a:buFont typeface="Wingdings" pitchFamily="2" charset="2"/>
              <a:buChar char="v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Cycle time between QA to UAT - Monthly Average time between a feature is QA Complete to UAT deployed.</a:t>
            </a:r>
          </a:p>
          <a:p>
            <a:pPr marL="285750" indent="-285750" fontAlgn="t">
              <a:buFont typeface="Wingdings" pitchFamily="2" charset="2"/>
              <a:buChar char="v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Cycle time between UAT to PROD - Monthly Average time between a feature is UAT Complete to PROD deployed including Release Management and CAB approval time.</a:t>
            </a:r>
          </a:p>
          <a:p>
            <a:pPr marL="285750" indent="-285750" fontAlgn="t">
              <a:buFont typeface="Wingdings" pitchFamily="2" charset="2"/>
              <a:buChar char="v"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# of days between last merge date to Development Branch and date on which code get deployed to QA environment.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374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495</Words>
  <Application>Microsoft Macintosh PowerPoint</Application>
  <PresentationFormat>Widescreen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Office Theme</vt:lpstr>
      <vt:lpstr>PowerPoint Presentation</vt:lpstr>
      <vt:lpstr>KPIs for Process Improvements </vt:lpstr>
      <vt:lpstr>Quality KPIs  </vt:lpstr>
      <vt:lpstr>Test Automation KPIs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</cp:revision>
  <dcterms:created xsi:type="dcterms:W3CDTF">2020-09-29T16:07:57Z</dcterms:created>
  <dcterms:modified xsi:type="dcterms:W3CDTF">2020-09-29T16:10:38Z</dcterms:modified>
</cp:coreProperties>
</file>